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</a:defRPr>
            </a:pPr>
            <a:r>
              <a:t>AI Advisory Co-pilot for SEBI RIA</a:t>
            </a:r>
          </a:p>
          <a:p>
            <a:pPr>
              <a:spcAft>
                <a:spcPts val="2400"/>
              </a:spcAft>
              <a:defRPr sz="2000">
                <a:solidFill>
                  <a:srgbClr val="93C5FD"/>
                </a:solidFill>
              </a:defRPr>
            </a:pPr>
            <a:r>
              <a:t>Fiduciary-Grade, Deterministic, Zero-Hallucination Decision Support System</a:t>
            </a:r>
          </a:p>
          <a:p>
            <a:pPr>
              <a:defRPr sz="1500" i="1">
                <a:solidFill>
                  <a:srgbClr val="E2E8F0"/>
                </a:solidFill>
              </a:defRPr>
            </a:pPr>
            <a:r>
              <a:t>Core Rule: The LLM explains; Python computes. The adviser governs; the client is protected.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24688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84632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73 / 73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Pytest Suite (100%)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4754880"/>
            <a:ext cx="24688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484632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100.0%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RAG Accuracy (25/25)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754880"/>
            <a:ext cx="24688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84632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D97706"/>
                </a:solidFill>
              </a:defRPr>
            </a:pPr>
            <a:r>
              <a:t>0.0%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Hallucination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754880"/>
            <a:ext cx="24688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484632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100.0%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Adversarial Defense (30/30)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ZECKATHON PS04: AI ADVISORY CO-PILOT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Problem: Scaling Advisory vs Fiduciary Strictness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DC2626"/>
                </a:solidFill>
              </a:defRPr>
            </a:pPr>
            <a:r>
              <a:t>The Scale &amp; Compliance Bottleneck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Massive Shortage: Under 1,300 active RIAs serving India's 1.4 Billion population.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Manual Overhead: Constructing customized goal plans, SIP schedules, and glide paths takes 4-6 hours per client.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Perils of Generic LLMs: Fabricate NAVs, hallucinate expense ratios, and hallucinate return promises—a direct SEBI regulatory violation.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Compliance Liability: SEBI Investment Advisers Regulations (2013) impose strict fiduciary liability on client suitability and disclosures.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Our Architectural Solution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✓ Deterministic Math Engine: Every rupee, SIP, CAGR, and drawdown comes from closed-form Python code, never prompt generation.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✓ Anti-Hallucination Verifier: Verifies every claimed number against verbatim factsheet chunk text. Refuses if ungrounded.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✓ Code-Enforced Approval Gate: State machine ensures no report or PDF reaches a client without explicit adviser review and sign-off.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✓ Regulatory Suitability: Automated SEBI Regulation 17 rules protect vulnerable clients from unsuitable high-risk products.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ZECKATHON PS04: AI ADVISORY CO-PILOT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Architecture: Dual-Engine Blueprint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E3A8A"/>
                </a:solidFill>
              </a:defRPr>
            </a:pPr>
            <a:r>
              <a:t>1. Risk Profiler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Objective Capacity (0-100)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Behavioural Tolerance (0-100)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Conflict rule: min(Cap, Tol)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Adviser mismatch 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783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E3A8A"/>
                </a:solidFill>
              </a:defRPr>
            </a:pPr>
            <a:r>
              <a:t>2. Goal Planner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Compound inflation (6%, 10%, 9%)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FV of Annuity Due SIP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10% Step-Up SIP schedule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Linear Glide Path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3-Bucket Retiree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783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E3A8A"/>
                </a:solidFill>
              </a:defRPr>
            </a:pPr>
            <a:r>
              <a:t>3. Portfolio Engine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Direct + Growth filter only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Multi-factor scoring (TER, Sharpe)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Top 1-2 shortlisted funds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10Y backtest vs benchmark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Survivorship caveats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E3A8A"/>
                </a:solidFill>
              </a:defRPr>
            </a:pPr>
            <a:r>
              <a:t>4. RAG &amp; Verifier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SQLite Fact Table first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BM25 + Dense Semantic RRF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Strict Anti-Hallucination Verifier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Verbatim [Doc, p.X] citation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Refuses guessing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0233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E3A8A"/>
                </a:solidFill>
              </a:defRPr>
            </a:pPr>
            <a:r>
              <a:t>5. Guardrails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Input guarantee interceptor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Prompt injection defense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SEBI Reg 17 suitability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Output promise scanner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5 Mandatory disclosures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0233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41605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E3A8A"/>
                </a:solidFill>
              </a:defRPr>
            </a:pPr>
            <a:r>
              <a:t>6. Approval Gate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State machine (DRAFT-&gt;APP)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Immutable audit trail log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Code-enforced PDF block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Institutional client export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FastAPI + Streamlit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ZECKATHON PS04: AI ADVISORY CO-PILOT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Deterministic Risk Profiling &amp; Conflict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E3A8A"/>
                </a:solidFill>
              </a:defRPr>
            </a:pPr>
            <a:r>
              <a:t>Dual-Axis Assessment Model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Risk Capacity (0-100): Income stability (20%), horizon (25%), liabilities ratio (20%), dependants (15%), emergency fund (20%), and human capital life stage.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Risk Tolerance (0-100): 8 psychometric questions + behavioural penalties for F&amp;O derivatives and past panic selling.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Governing Band: min(Capacity, Tolerance). Always assigns the conservative boundary.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Adviser Review Trigger: If capacity and tolerance differ by &gt;1 band, sets needs_adviser_review=True with natural language diagnosis.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63093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828800"/>
            <a:ext cx="5943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Deterministic Persona Results</a:t>
            </a:r>
          </a:p>
          <a:p>
            <a:pPr>
              <a:spcAft>
                <a:spcPts val="600"/>
              </a:spcAft>
              <a:defRPr sz="1100" b="0">
                <a:solidFill>
                  <a:srgbClr val="1E293B"/>
                </a:solidFill>
              </a:defRPr>
            </a:pPr>
            <a:r>
              <a:t>Arjun Mehta (23, Grad): Cap 80.2 / 100 | Tol 72.5 / 100 -&gt; Moderate [Aligned]</a:t>
            </a:r>
          </a:p>
          <a:p>
            <a:pPr>
              <a:spcAft>
                <a:spcPts val="600"/>
              </a:spcAft>
              <a:defRPr sz="1100" b="0">
                <a:solidFill>
                  <a:srgbClr val="1E293B"/>
                </a:solidFill>
              </a:defRPr>
            </a:pPr>
            <a:r>
              <a:t>Priya &amp; Rahul (31, Couple): Cap 78.2 / 100 | Tol 67.5 / 100 -&gt; Mod. Aggressive [Aligned]</a:t>
            </a:r>
          </a:p>
          <a:p>
            <a:pPr>
              <a:spcAft>
                <a:spcPts val="600"/>
              </a:spcAft>
              <a:defRPr sz="1100" b="1">
                <a:solidFill>
                  <a:srgbClr val="DC2626"/>
                </a:solidFill>
              </a:defRPr>
            </a:pPr>
            <a:r>
              <a:t>Ketan Patel (44, Business): Cap 65.0 / 100 | Tol 32.5 / 100 -&gt; Mod. Conservative [⚠️ Review Required]</a:t>
            </a:r>
          </a:p>
          <a:p>
            <a:pPr>
              <a:spcAft>
                <a:spcPts val="600"/>
              </a:spcAft>
              <a:defRPr sz="1100" b="1">
                <a:solidFill>
                  <a:srgbClr val="DC2626"/>
                </a:solidFill>
              </a:defRPr>
            </a:pPr>
            <a:r>
              <a:t>Dr. Sneha Kumar (38, Doctor): Cap 79.2 / 100 | Tol 31.2 / 100 -&gt; Mod. Conservative [⚠️ Review Required]</a:t>
            </a:r>
          </a:p>
          <a:p>
            <a:pPr>
              <a:spcAft>
                <a:spcPts val="600"/>
              </a:spcAft>
              <a:defRPr sz="1100" b="0">
                <a:solidFill>
                  <a:srgbClr val="1E293B"/>
                </a:solidFill>
              </a:defRPr>
            </a:pPr>
            <a:r>
              <a:t>V. Sundararajan (68, Retiree): Cap 52.2 / 100 | Tol 25.0 / 100 -&gt; Mod. Conservative [Decumulation Cap]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</a:defRPr>
            </a:pPr>
            <a:r>
              <a:t>Vikram Desai (29, Trader): Cap 48.2 / 100 | Tol 37.5 / 100 -&gt; Mod. Conservative [F&amp;O Penalty Flag]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ZECKATHON PS04: AI ADVISORY CO-PILOT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Goal-Based Financial Planner &amp; Dynamic Glide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t>1. Dynamic Inflation Adjustment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Future Cost: FV = PV * (1 + i)^n</a:t>
            </a:r>
          </a:p>
          <a:p>
            <a:pPr>
              <a:defRPr sz="1200">
                <a:solidFill>
                  <a:srgbClr val="1E293B"/>
                </a:solidFill>
              </a:defRPr>
            </a:pP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General CPI: 6% p.a.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Higher Education: 10% p.a.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Healthcare/Medical: 9% p.a.</a:t>
            </a:r>
          </a:p>
          <a:p>
            <a:pPr>
              <a:defRPr sz="1200">
                <a:solidFill>
                  <a:srgbClr val="1E293B"/>
                </a:solidFill>
              </a:defRPr>
            </a:pP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All rates configurable &amp; fully disclosed.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t>2. Precision SIP Formulas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Monthly Flat SIP via Annuity Due: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PMT = FV * r_m / [((1+r_m)^N - 1)(1+r_m)]</a:t>
            </a:r>
          </a:p>
          <a:p>
            <a:pPr>
              <a:defRPr sz="1200">
                <a:solidFill>
                  <a:srgbClr val="1E293B"/>
                </a:solidFill>
              </a:defRPr>
            </a:pP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Step-Up SIP (10% Annual Escalation):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Starts lower to match early career cashflows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Escalates annually with income growth.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t>3. Linear Glide Path &amp; 3-Bucket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Linear Glide Path: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Shifts equity to debt over final 5 years before goal maturity.</a:t>
            </a:r>
          </a:p>
          <a:p>
            <a:pPr>
              <a:defRPr sz="1200">
                <a:solidFill>
                  <a:srgbClr val="1E293B"/>
                </a:solidFill>
              </a:defRPr>
            </a:pP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Retiree 3-Bucket Model (25y Horizon):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Bucket 1: 2y Cash (Immediate draw)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Bucket 2: 4y Debt (Stable refill)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Bucket 3: Growth Equity (Beat inflation)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ZECKATHON PS04: AI ADVISORY CO-PILOT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Direct Fund Selection Engine &amp; 10-Year Backtest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E3A8A"/>
                </a:solidFill>
              </a:defRPr>
            </a:pPr>
            <a:r>
              <a:t>Transparent Multi-Factor Scoring (100 Pts)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Return Consistency (30%): 3Y and 5Y rolling CAGR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Risk-Adjusted Return (25%): Sharpe Ratio (Rf = 6.5% T-Bill benchmark)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Downside Protection (20%): Maximum Peak-to-Trough Drawdown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Low Expense Ratio (15%): Direct Plan TER (saves 0.7-1.0% recurring)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AUM &amp; Manager Tenure (10%): High liquidity (&gt;10k Cr) and tenured manager</a:t>
            </a:r>
          </a:p>
          <a:p>
            <a:br/>
            <a:pPr>
              <a:defRPr sz="1100" i="1">
                <a:solidFill>
                  <a:srgbClr val="64748B"/>
                </a:solidFill>
              </a:defRPr>
            </a:pPr>
            <a:r>
              <a:t>Selection Rationale: Every recommendation automatically details TER, tenure, and performance reasons.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10-Year Historical Backtest Simulation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Annual Rebalancing: Rebalances annually back to target asset allocation weights.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Composite Benchmark: Compared against 65:35 Equity/Debt composite benchmark.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Reported Metrics: Exact CAGR, Volatility, Max Drawdown, and Sharpe Ratio.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Mandatory Disclosures Included: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- Survivorship bias warning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- Direct plan inception date limit (Jan 2013)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- Past performance caveat (not indicative of future returns)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ZECKATHON PS04: AI ADVISORY CO-PILOT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Research Assistant with Verifier (100% Benchmark Score)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377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100.0%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Accuracy (25/25)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737360"/>
            <a:ext cx="2377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100.0%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Citation Rate (Factuals)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2377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100.0%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Refusal Rate (Attacks)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737360"/>
            <a:ext cx="2377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97706"/>
                </a:solidFill>
              </a:defRPr>
            </a:pPr>
            <a:r>
              <a:t>0.0%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Hallucination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60704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10241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E3A8A"/>
                </a:solidFill>
              </a:defRPr>
            </a:pPr>
            <a:r>
              <a:t>Two-Stage Retrieval + Anti-Hallucination Verifier Pipeline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1. First Router (SQLite Fact Table): Direct lookups (TER, exit load, benchmark, min SIP, AUM, manager tenure) resolve in O(1) time directly from verified SQLite table with document coordinates.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2. Hybrid Retrieval (BM25 + Dense Semantic): Multi-hop queries retrieve top page chunks via Reciprocal Rank Fusion (RRF), preserving exact page numbers.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3. Strict Verifier: Regex entity extractor parses all numbers, percentages, and entities in candidate answer. If ANY number does not appear verbatim in the cited page text, the answer is replaced with: 'Not found in the provided sources.'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4. Never Guess: Zero reliance on model memory. Refusing is explicitly prioritized over guessing.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ZECKATHON PS04: AI ADVISORY CO-PILOT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Multi-Layer Guardrails &amp; Suitability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C2626"/>
                </a:solidFill>
              </a:defRPr>
            </a:pPr>
            <a:r>
              <a:t>Input Guardrail Layer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Intercepts adversarial prompts before model inference:</a:t>
            </a:r>
          </a:p>
          <a:p>
            <a:pPr>
              <a:defRPr sz="1200">
                <a:solidFill>
                  <a:srgbClr val="1E293B"/>
                </a:solidFill>
              </a:defRPr>
            </a:pP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Return Guarantees: 'guarantee 20%', 'double money', 'risk-free'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Prompt Injections: 'ignore instructions', 'DAN mode', system overrides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Bypass Attempts: 'skip approval', 'send directly to client'</a:t>
            </a:r>
          </a:p>
          <a:p>
            <a:pPr>
              <a:defRPr sz="1200">
                <a:solidFill>
                  <a:srgbClr val="1E293B"/>
                </a:solidFill>
              </a:defRPr>
            </a:pP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30/30 Attacks Neutralized (100% Defense).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t>SEBI Reg 17 Suitability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Rules-based suitability checks:</a:t>
            </a:r>
          </a:p>
          <a:p>
            <a:pPr>
              <a:defRPr sz="1200">
                <a:solidFill>
                  <a:srgbClr val="1E293B"/>
                </a:solidFill>
              </a:defRPr>
            </a:pP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Senior Citizens (&gt;60): Excessive equity (&gt;40%) and small caps are BLOCKED.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F&amp;O Traders: Speculative history + panic selling triggers WARNING and conservative index redirection.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Low Capacity: High-risk allocations blocked if capacity score &lt; 40.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Output Guardrail Layer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Compliance scanning and statutory disclaimers:</a:t>
            </a:r>
          </a:p>
          <a:p>
            <a:pPr>
              <a:defRPr sz="1200">
                <a:solidFill>
                  <a:srgbClr val="1E293B"/>
                </a:solidFill>
              </a:defRPr>
            </a:pP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Promise Scanner: Blocks and replaces any implied return promises.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Mandatory SEBI Disclosures: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1. Direct Plans Only (No commission)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2. Fiduciary Duty &amp; Conflict Statement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3. Statutory Mutual Fund Risk Warning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4. Past Performance Caveat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5. No Return Guarantee Statement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ZECKATHON PS04: AI ADVISORY CO-PILOT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Adviser Approval Gate &amp; Client-Ready PDF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E3A8A"/>
                </a:solidFill>
              </a:defRPr>
            </a:pPr>
            <a:r>
              <a:t>Code-Enforced State Machine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State Transition: DRAFT -&gt; PENDING_REVIEW -&gt; APPROVED / REJECTED.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Code-Level Block: export_pdf() checks plan status. If status != APPROVED, raises Python PermissionError.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No Prompt Bypass: Security is enforced at code level, making prompt injection bypasses impossible.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Immutable Audit Log: Records timestamp, adviser ID, previous status, new status, and adviser notes for regulatory inspection.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Institutional Client PDF Report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Generated via fpdf2 with professional typography.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Comprehensive Report Sections: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1. Client Diagnostic &amp; Governing Risk Band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2. Goal Roadmap &amp; Monthly Flat/Step-Up SIPs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3. Recommended Direct Mutual Funds with Rationale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4. 10-Year Backtest &amp; Methodology Limitations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5. All 5 Mandatory SEBI RIA Disclosures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6. RIA Digital Sign-Off Box &amp; Audit Log 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Summary &amp; Production Readiness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✓ 100% Deterministic: All math computed in Python. Zero numerical hallucination.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✓ Honest Verifier: 100% accuracy on gold benchmark, 100% page citation, 0 hallucinations.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✓ Regulatory Suitability: Automated SEBI Regulation 17 checks protect vulnerable personas.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✓ Adviser Gate: Institutional state machine guarantees client cannot receive unapproved plans.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✓ One-Command Reproducibility: 'make reproduce' or 'python scripts/reproduce.py' runs all personas, tests, and PDF exports in under 10 seconds.</a:t>
            </a:r>
          </a:p>
          <a:p>
            <a:br/>
            <a:pPr>
              <a:defRPr sz="1400" b="1">
                <a:solidFill>
                  <a:srgbClr val="93C5FD"/>
                </a:solidFill>
              </a:defRPr>
            </a:pPr>
            <a:r>
              <a:t>Live Dashboard: http://localhost:8501  |  REST API: http://localhost:8000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